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236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6756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pPr algn="ctr"/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StatioPoint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Point-of-Sale System for Retail Stationery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7D2FE"/>
                </a:solidFill>
              </a:rPr>
              <a:t>Fundamentals of Software Engineering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7D2FE"/>
                </a:solidFill>
              </a:rPr>
              <a:t>Hanan Ishaq (24L-2537)  |  Mohid Israr (24L-2510)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>
                    <a:alpha val="3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914400" y="2123090"/>
            <a:ext cx="7315200" cy="6726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Introduction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2651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2FE"/>
                </a:solidFill>
              </a:rPr>
              <a:t>What is StatioPoint?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Project Introduction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</a:rPr>
              <a:t>What is StatioPoint?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</a:rPr>
              <a:t>StatioPoint is a web-based Point-of-Sale system for retail stationery shops in Pakistan.
It allows shop owners and cashiers to manage sales, inventory, employees, and analytics from a single platform — replacing manual paper-based operations.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914400"/>
            <a:ext cx="4114800" cy="1554480"/>
          </a:xfrm>
          <a:prstGeom prst="rect">
            <a:avLst/>
          </a:prstGeom>
          <a:solidFill>
            <a:srgbClr val="1E1B4B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0" y="1005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5B4FC"/>
                </a:solidFill>
              </a:rPr>
              <a:t>Tech Stack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141732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Frontend: </a:t>
            </a:r>
            <a:r>
              <a:rPr lang="en-US" sz="1300" dirty="0">
                <a:solidFill>
                  <a:srgbClr val="C7D2FE"/>
                </a:solidFill>
              </a:rPr>
              <a:t>HTML, CSS, JavaScript
</a:t>
            </a:r>
            <a:r>
              <a:rPr lang="en-US" sz="1300" b="1" dirty="0">
                <a:solidFill>
                  <a:srgbClr val="FFFFFF"/>
                </a:solidFill>
              </a:rPr>
              <a:t>Backend: </a:t>
            </a:r>
            <a:r>
              <a:rPr lang="en-US" sz="1300" dirty="0">
                <a:solidFill>
                  <a:srgbClr val="C7D2FE"/>
                </a:solidFill>
              </a:rPr>
              <a:t>Node.js + Express.js
</a:t>
            </a:r>
            <a:r>
              <a:rPr lang="en-US" sz="1300" b="1" dirty="0">
                <a:solidFill>
                  <a:srgbClr val="FFFFFF"/>
                </a:solidFill>
              </a:rPr>
              <a:t>Database: </a:t>
            </a:r>
            <a:r>
              <a:rPr lang="en-US" sz="1300" dirty="0">
                <a:solidFill>
                  <a:srgbClr val="C7D2FE"/>
                </a:solidFill>
              </a:rPr>
              <a:t>Microsoft SQL Server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2743200"/>
            <a:ext cx="1280160" cy="16459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8346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Sprint 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0" y="320040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Login, Dashboard, RBAC, Profile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89320" y="2743200"/>
            <a:ext cx="1280160" cy="16459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Text 12"/>
          <p:cNvSpPr/>
          <p:nvPr/>
        </p:nvSpPr>
        <p:spPr>
          <a:xfrm>
            <a:off x="5989320" y="28346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Sprint 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89320" y="320040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Inventory, Sales, Checkout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406640" y="2743200"/>
            <a:ext cx="1280160" cy="16459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7" name="Text 15"/>
          <p:cNvSpPr/>
          <p:nvPr/>
        </p:nvSpPr>
        <p:spPr>
          <a:xfrm>
            <a:off x="7406640" y="28346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Sprint 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06640" y="320040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Signup, Analytics, Restock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>
                    <a:alpha val="3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914400" y="2196661"/>
            <a:ext cx="7315200" cy="4779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Advantages &amp; Constraints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2651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2FE"/>
                </a:solidFill>
              </a:rPr>
              <a:t>What works well and what are the limitations?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Advantages &amp; Constraints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3657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822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  Advantages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4114800" cy="59436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3258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6534"/>
                </a:solidFill>
              </a:rPr>
              <a:t>✓  Role-based access keeps admin and cashier data separate and secure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965960"/>
            <a:ext cx="41148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0116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6534"/>
                </a:solidFill>
              </a:rPr>
              <a:t>✓  Real-time stock updates after every sale prevent overselling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651760"/>
            <a:ext cx="4114800" cy="59436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6974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6534"/>
                </a:solidFill>
              </a:rPr>
              <a:t>✓  Revenue analytics dashboard gives instant business insights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337560"/>
            <a:ext cx="41148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33832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6534"/>
                </a:solidFill>
              </a:rPr>
              <a:t>✓  Smart restock report automates procurement planning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4023360"/>
            <a:ext cx="4114800" cy="59436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40690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6534"/>
                </a:solidFill>
              </a:rPr>
              <a:t>✓  JWT authentication is stateless — fast and scalable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822960"/>
            <a:ext cx="4114800" cy="3657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822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⚠  Constraints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54880" y="1280160"/>
            <a:ext cx="4114800" cy="59436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13258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2D12"/>
                </a:solidFill>
              </a:rPr>
              <a:t>⚠  Currently runs on localhost only — not deployed to cloud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1965960"/>
            <a:ext cx="41148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4754880" y="2651760"/>
            <a:ext cx="4114800" cy="59436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20116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2D12"/>
                </a:solidFill>
              </a:rPr>
              <a:t>⚠  Single currency (PKR) — no multi-currency support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337560"/>
            <a:ext cx="41148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265176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2D12"/>
                </a:solidFill>
              </a:rPr>
              <a:t>⚠  No offline mode — requires active internet/server connection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>
                    <a:alpha val="3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914400" y="2007476"/>
            <a:ext cx="7315200" cy="16816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Non-Functional Requirements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3426372"/>
            <a:ext cx="7315200" cy="756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2FE"/>
                </a:solidFill>
              </a:rPr>
              <a:t>Quality attributes of StatioPoint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Non-Functional Requirements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4114800" cy="50292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229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NFR: Security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1480" y="1463040"/>
            <a:ext cx="73152" cy="73152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4173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Bcrypt password hashing — passwords never stored as plain text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121408"/>
            <a:ext cx="73152" cy="73152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07568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JWT tokens protect all API routes from unauthorized access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2779776"/>
            <a:ext cx="73152" cy="73152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734056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Role-based middleware blocks cashiers from admin endpoints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3438144"/>
            <a:ext cx="73152" cy="73152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392424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.env file keeps database credentials out of source code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822960"/>
            <a:ext cx="411480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822960"/>
            <a:ext cx="4114800" cy="5029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8229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NFR: Performance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892040" y="1463040"/>
            <a:ext cx="73152" cy="7315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9" name="Text 17"/>
          <p:cNvSpPr/>
          <p:nvPr/>
        </p:nvSpPr>
        <p:spPr>
          <a:xfrm>
            <a:off x="5074920" y="14173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Async/await prevents server blocking during DB operations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92040" y="2121408"/>
            <a:ext cx="73152" cy="7315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1" name="Text 19"/>
          <p:cNvSpPr/>
          <p:nvPr/>
        </p:nvSpPr>
        <p:spPr>
          <a:xfrm>
            <a:off x="5074920" y="207568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Fetch API avoids full page reloads — faster user experience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92040" y="2779776"/>
            <a:ext cx="73152" cy="7315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3" name="Text 21"/>
          <p:cNvSpPr/>
          <p:nvPr/>
        </p:nvSpPr>
        <p:spPr>
          <a:xfrm>
            <a:off x="5074920" y="2734056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Optimized JOIN queries reduce multiple round trips to database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92040" y="3438144"/>
            <a:ext cx="73152" cy="7315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5" name="Text 23"/>
          <p:cNvSpPr/>
          <p:nvPr/>
        </p:nvSpPr>
        <p:spPr>
          <a:xfrm>
            <a:off x="5074920" y="3392424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Stateless JWT auth — no session storage needed on server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>
                    <a:alpha val="3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Design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2651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2FE"/>
                </a:solidFill>
              </a:rPr>
              <a:t>UML Diagrams &amp; System Design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Design — UML Diagrams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109728" cy="173736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97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</a:rPr>
              <a:t>Use Case Diagram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Actors: Admin &amp; Cashier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All system interactions mapped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1148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14400"/>
            <a:ext cx="109728" cy="17373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097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</a:rPr>
              <a:t>Activity Diagrams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15544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3 diagrams: Add Product,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Create Sale, Sales History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926080"/>
            <a:ext cx="41148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926080"/>
            <a:ext cx="109728" cy="17373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108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</a:rPr>
              <a:t>Sequence Diagrams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35661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3 diagrams showing frontend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→ backend → DB flow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926080"/>
            <a:ext cx="41148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926080"/>
            <a:ext cx="109728" cy="173736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3108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</a:rPr>
              <a:t>Class Diagram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83480" y="35661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4 classes: User, Product,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Sale, SaleItem with relationships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>
                    <a:alpha val="3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914400" y="1645919"/>
            <a:ext cx="7315200" cy="1601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Architecture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2651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2FE"/>
                </a:solidFill>
              </a:rPr>
              <a:t>Layered Architecture Pattern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Architecture — Layered Pattern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822960"/>
            <a:ext cx="7680960" cy="6858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85953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Presentation Layer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1704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7FF"/>
                </a:solidFill>
              </a:rPr>
              <a:t>login.html  |  signup.html  |  admin.html  |  cashier.html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434840" y="1508760"/>
            <a:ext cx="274320" cy="914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Text 6"/>
          <p:cNvSpPr/>
          <p:nvPr/>
        </p:nvSpPr>
        <p:spPr>
          <a:xfrm>
            <a:off x="4297680" y="157276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▼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1691640"/>
            <a:ext cx="7680960" cy="6858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7282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UI Management &amp; Authentication Layer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0391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7FF"/>
                </a:solidFill>
              </a:rPr>
              <a:t>JWT Middleware  |  Role-Based Access Control  |  Input Validation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34840" y="2377440"/>
            <a:ext cx="274320" cy="914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3" name="Text 11"/>
          <p:cNvSpPr/>
          <p:nvPr/>
        </p:nvSpPr>
        <p:spPr>
          <a:xfrm>
            <a:off x="4297680" y="244144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▼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2560320"/>
            <a:ext cx="7680960" cy="6858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259689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Business Logic Layer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29077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7FF"/>
                </a:solidFill>
              </a:rPr>
              <a:t>Auth Routes  |  Product Routes  |  Sales Routes  |  Analytics Routes  |  Inventory Routes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434840" y="3246120"/>
            <a:ext cx="274320" cy="914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8" name="Text 16"/>
          <p:cNvSpPr/>
          <p:nvPr/>
        </p:nvSpPr>
        <p:spPr>
          <a:xfrm>
            <a:off x="4297680" y="33101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▼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" y="3429000"/>
            <a:ext cx="7680960" cy="6858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4655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Database Layer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3776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7FF"/>
                </a:solidFill>
              </a:rPr>
              <a:t>Users Table  |  Products Table  |  Sales Table  |  SaleItems Table  (Microsoft SQL Server)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4343400"/>
            <a:ext cx="3840480" cy="54864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370832"/>
            <a:ext cx="3657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6534"/>
                </a:solidFill>
              </a:rPr>
              <a:t>✓ Advantages: Easy to maintain, layers are independent, security enforced at middleware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0" y="4343400"/>
            <a:ext cx="3840480" cy="54864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25" name="Text 23"/>
          <p:cNvSpPr/>
          <p:nvPr/>
        </p:nvSpPr>
        <p:spPr>
          <a:xfrm>
            <a:off x="5120640" y="4370832"/>
            <a:ext cx="3657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2D12"/>
                </a:solidFill>
              </a:rPr>
              <a:t>⚠ Limitation: Slight overhead as all requests pass through every layer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>
                    <a:alpha val="3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Implementation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2651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2FE"/>
                </a:solidFill>
              </a:rPr>
              <a:t>Key features across all 3 sprints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Implementation — Key Features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868680"/>
            <a:ext cx="28346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868680"/>
            <a:ext cx="2834640" cy="41148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9611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Login &amp; Signup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34416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46E5"/>
                </a:solidFill>
              </a:rPr>
              <a:t>Sprint 1 &amp; 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618488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JWT auth, bcrypt hashing, BVA-tested signup validation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868680"/>
            <a:ext cx="28346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868680"/>
            <a:ext cx="2834640" cy="4114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3246120" y="89611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Admin Dashboard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46120" y="134416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366F1"/>
                </a:solidFill>
              </a:rPr>
              <a:t>Sprint 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46120" y="1618488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KPI cards, revenue chart, role-based access control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868680"/>
            <a:ext cx="28346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868680"/>
            <a:ext cx="2834640" cy="4114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89611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Inventory Management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0" y="134416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</a:rPr>
              <a:t>Sprint 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17920" y="1618488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Add/Edit/Delete products, low stock alerts in red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" y="2788920"/>
            <a:ext cx="28346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82880" y="2788920"/>
            <a:ext cx="2834640" cy="41148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281635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Cashier Checkout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326440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A580C"/>
                </a:solidFill>
              </a:rPr>
              <a:t>Sprint 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" y="3538728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Product search, cart, payment selection, auto stock update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154680" y="2788920"/>
            <a:ext cx="28346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54680" y="2788920"/>
            <a:ext cx="2834640" cy="41148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26" name="Text 24"/>
          <p:cNvSpPr/>
          <p:nvPr/>
        </p:nvSpPr>
        <p:spPr>
          <a:xfrm>
            <a:off x="3246120" y="281635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Revenue Analytics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246120" y="326440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33EA"/>
                </a:solidFill>
              </a:rPr>
              <a:t>Sprint 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46120" y="3538728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Weekly chart, category pie, top 5 products, Chart.js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26480" y="2788920"/>
            <a:ext cx="28346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2788920"/>
            <a:ext cx="2834640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0" y="281635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Smart Restock Report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217920" y="326440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</a:rPr>
              <a:t>Sprint 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17920" y="3538728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Auto-calculated restock, cost estimate, CSV export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Implementation Screenshots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32004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274320" y="82296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</a:rPr>
              <a:t>[ INSERT SCREENSHOT 1 ]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</a:rPr>
              <a:t>Admin Dashboard / Inventory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822960"/>
            <a:ext cx="4114800" cy="32004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4754880" y="82296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</a:rPr>
              <a:t>[ INSERT SCREENSHOT 2 ]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</a:rPr>
              <a:t>Analytics / Restock Report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42062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E9285BA-A619-7640-69DB-C151B1BBC9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22960"/>
            <a:ext cx="4114800" cy="338328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F0846CF-B419-F1CD-CBD1-5C2122F2AF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1" y="822959"/>
            <a:ext cx="4114800" cy="338328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>
                    <a:alpha val="3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7315200" cy="1579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 Division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2651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2FE"/>
                </a:solidFill>
              </a:rPr>
              <a:t>Team contribution across all sprints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Work Division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4114800" cy="64008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8503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Mohid Israr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11887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D2FE"/>
                </a:solidFill>
              </a:rPr>
              <a:t>24L-2510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73152" cy="73152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15544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Backend API development (all 3 sprints)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57400"/>
            <a:ext cx="73152" cy="73152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20116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Database design &amp; SQL Server setup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73152" cy="73152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" y="24688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JWT authentication &amp; middleware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73152" cy="73152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" y="29260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Analytics &amp; restock API routes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429000"/>
            <a:ext cx="73152" cy="73152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" y="33832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Server configuration &amp; .env setup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822960"/>
            <a:ext cx="411480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822960"/>
            <a:ext cx="4114800" cy="64008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8503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Hanan Ishaq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892040" y="11887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D2FE"/>
                </a:solidFill>
              </a:rPr>
              <a:t>24L-2537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37760" y="1600200"/>
            <a:ext cx="73152" cy="7315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3" name="Text 21"/>
          <p:cNvSpPr/>
          <p:nvPr/>
        </p:nvSpPr>
        <p:spPr>
          <a:xfrm>
            <a:off x="5102352" y="15544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Frontend development (all HTML pages)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937760" y="2057400"/>
            <a:ext cx="73152" cy="7315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5" name="Text 23"/>
          <p:cNvSpPr/>
          <p:nvPr/>
        </p:nvSpPr>
        <p:spPr>
          <a:xfrm>
            <a:off x="5102352" y="20116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Signup page UI &amp; validation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937760" y="2514600"/>
            <a:ext cx="73152" cy="7315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7" name="Text 25"/>
          <p:cNvSpPr/>
          <p:nvPr/>
        </p:nvSpPr>
        <p:spPr>
          <a:xfrm>
            <a:off x="5102352" y="24688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Analytics dashboard with Chart.js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937760" y="2971800"/>
            <a:ext cx="73152" cy="7315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9" name="Text 27"/>
          <p:cNvSpPr/>
          <p:nvPr/>
        </p:nvSpPr>
        <p:spPr>
          <a:xfrm>
            <a:off x="5102352" y="29260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Restock report UI &amp; CSV export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937760" y="3429000"/>
            <a:ext cx="73152" cy="7315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1" name="Text 29"/>
          <p:cNvSpPr/>
          <p:nvPr/>
        </p:nvSpPr>
        <p:spPr>
          <a:xfrm>
            <a:off x="5102352" y="33832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Testing, debugging &amp; report writing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>
                    <a:alpha val="3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7315200" cy="16179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Lessons Learnt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2651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2FE"/>
                </a:solidFill>
              </a:rPr>
              <a:t>Key takeaways from the project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Lessons Learnt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868680"/>
            <a:ext cx="28346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868680"/>
            <a:ext cx="2834640" cy="73152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05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</a:rPr>
              <a:t>🔐 JWT &amp; Security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417320"/>
            <a:ext cx="2651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Stateless authentication with JWT taught us how to protect APIs without server-side sessions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54680" y="868680"/>
            <a:ext cx="28346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54680" y="868680"/>
            <a:ext cx="2834640" cy="7315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3246120" y="1005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</a:rPr>
              <a:t>📊 Data Visualization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46120" y="1417320"/>
            <a:ext cx="2651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Chart.js made analytics simple — frontend libraries can add huge value with minimal backend changes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868680"/>
            <a:ext cx="28346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868680"/>
            <a:ext cx="2834640" cy="7315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005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</a:rPr>
              <a:t>🧪 BVA Testing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1417320"/>
            <a:ext cx="2651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Boundary testing revealed edge cases we never considered, like 3-char usernames and +92 phone validation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" y="2788920"/>
            <a:ext cx="28346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82880" y="2788920"/>
            <a:ext cx="2834640" cy="7315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29260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</a:rPr>
              <a:t>🗂️ Agile Process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74320" y="3337560"/>
            <a:ext cx="2651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Breaking work into sprints with Trello kept both team members aligned and progress visible at all times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154680" y="2788920"/>
            <a:ext cx="28346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54680" y="2788920"/>
            <a:ext cx="2834640" cy="73152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22" name="Text 20"/>
          <p:cNvSpPr/>
          <p:nvPr/>
        </p:nvSpPr>
        <p:spPr>
          <a:xfrm>
            <a:off x="3246120" y="29260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</a:rPr>
              <a:t>🔧 Git Version Control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46120" y="3337560"/>
            <a:ext cx="2651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Committing regularly saved us when new features broke existing ones — history is invaluable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2788920"/>
            <a:ext cx="28346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788920"/>
            <a:ext cx="283464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29260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</a:rPr>
              <a:t>📁 Project Structure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17920" y="3337560"/>
            <a:ext cx="2651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Organizing backend into routes/, config/, middleware/ from the start made the codebase easy to scale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109728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You!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Questions?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5B4FC"/>
                </a:solidFill>
              </a:rPr>
              <a:t>StatioPoint — POS System for Retail Stationery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7D2FE"/>
                </a:solidFill>
              </a:rPr>
              <a:t>Hanan Ishaq (24L-2537)  |  Mohid Israr (24L-2510)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839</Words>
  <Application>Microsoft Office PowerPoint</Application>
  <PresentationFormat>On-screen Show (16:9)</PresentationFormat>
  <Paragraphs>163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StatioPoint — Final Presentation</dc:title>
  <dc:subject>PptxGenJS Presentation</dc:subject>
  <dc:creator>PptxGenJS</dc:creator>
  <cp:lastModifiedBy>ishaqhanan525@gmail.com</cp:lastModifiedBy>
  <cp:revision>2</cp:revision>
  <dcterms:created xsi:type="dcterms:W3CDTF">2026-04-25T13:24:35Z</dcterms:created>
  <dcterms:modified xsi:type="dcterms:W3CDTF">2026-04-25T15:06:04Z</dcterms:modified>
</cp:coreProperties>
</file>